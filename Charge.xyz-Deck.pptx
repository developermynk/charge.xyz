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0AB58-C947-42CB-A715-9ECF132806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A34DC7-3D3B-4324-A587-02EAE34262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6789D50-36BD-4937-AAEA-508D8D4147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4922B9B-53A3-478B-BE89-9D8CDFD092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CA693AF-0921-430A-92FB-D137E6D9FE1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E79B942-03BB-4CB6-817F-BD72EB54B9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DD00296-679D-4350-BB9F-D5FE1F4078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B3E9348-4EC2-48EC-9F7E-4F04E25902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2D5FF54-F129-4080-9286-5BEBA25C2C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35DDBF9-864B-4B36-A443-D96C569561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E56B735-0A08-46A2-9C31-89204B43E1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FA5EC3-735E-4F11-9517-C86BD0C6E82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56AEE6-6A64-4AE8-B563-DC1F3953E9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815E9E2-62C4-4A1C-838D-C0AE48548D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EDB059-0B35-4806-AF11-C3A5E6D7C8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F172D7-39EA-4C1D-BC47-EA5FF6A60D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B50C65B-FAE6-4041-A9C7-FDF1E9A0D9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A296A2-C2F2-40BC-85DE-2DC886F8C97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5179493-78DE-4030-AE96-2B64EB5687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9237B2-540F-4A09-BE49-48688F2C0F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C33485-8170-47CE-A741-0AEB5C0D1AB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AE382E-0DC7-4B62-87D8-4633274655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2011680"/>
            <a:ext cx="105152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, Arial"/>
              </a:rPr>
              <a:t>CHARGE.XYZ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2468880"/>
            <a:ext cx="10515240" cy="8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5200" spc="-1" strike="noStrike">
                <a:solidFill>
                  <a:srgbClr val="f5f5f7"/>
                </a:solidFill>
                <a:latin typeface="Inter, Arial"/>
              </a:rPr>
              <a:t>DeFi at full charge.</a:t>
            </a:r>
            <a:endParaRPr b="0" lang="en-IN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3749040"/>
            <a:ext cx="10515240" cy="73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900" spc="-1" strike="noStrike">
                <a:solidFill>
                  <a:srgbClr val="9a9aa6"/>
                </a:solidFill>
                <a:latin typeface="Inter, Arial"/>
              </a:rPr>
              <a:t>Swap, bridge, send, and launch tokens across chains -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900" spc="-1" strike="noStrike">
                <a:solidFill>
                  <a:srgbClr val="9a9aa6"/>
                </a:solidFill>
                <a:latin typeface="Inter, Arial"/>
              </a:rPr>
              <a:t>built on Arc, powered by Circle USDC &amp; CCTP.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Rectangle 5"/>
          <p:cNvSpPr/>
          <p:nvPr/>
        </p:nvSpPr>
        <p:spPr>
          <a:xfrm>
            <a:off x="822960" y="4937760"/>
            <a:ext cx="3291480" cy="50256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960120" y="5072400"/>
            <a:ext cx="31086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8cf03e"/>
                </a:solidFill>
                <a:latin typeface="Inter, Arial"/>
              </a:rPr>
              <a:t>Live on Vercel  ·  Self-custody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WHY CHARGE EXISTS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Cross-chain DeFi is still clunky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822960" y="1828800"/>
            <a:ext cx="10515240" cy="186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Fragmented liquidity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users juggle 5 wallets and 5 bridges to move USDC between chains.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Wrapped tokens &amp; lock-ups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most bridges mint IOUs, not native USDC. You never hold the real thing.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Custody risk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centralized bridges hold your funds in pools that get exploited.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Bad UX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network switching, gas on every chain, and opaque 'pending' states lose users.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2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THE PRODUCT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One app. Every chain. Native USDC.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822960" y="1828800"/>
            <a:ext cx="10515240" cy="186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Multi-chain DeFi dashboard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a wallet-gated app for swapping, bridging, transferring &amp; launching ERC-20s.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Native USDC only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Circle CCTP burns on source, mints real USDC on destination. No wrapped tokens.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Two ways in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continue with email (Privy embedded wallet) or connect any EVM wallet.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800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You sign everything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Charge never takes custody. Every tx is signed in your own wallet.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5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3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FEATURES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Four core actions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angle 4"/>
          <p:cNvSpPr/>
          <p:nvPr/>
        </p:nvSpPr>
        <p:spPr>
          <a:xfrm>
            <a:off x="822960" y="1828800"/>
            <a:ext cx="5211720" cy="191988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5"/>
          <p:cNvSpPr/>
          <p:nvPr/>
        </p:nvSpPr>
        <p:spPr>
          <a:xfrm>
            <a:off x="1143000" y="2084760"/>
            <a:ext cx="4571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⇄  </a:t>
            </a: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Swap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6"/>
          <p:cNvSpPr/>
          <p:nvPr/>
        </p:nvSpPr>
        <p:spPr>
          <a:xfrm>
            <a:off x="1143000" y="2743200"/>
            <a:ext cx="4571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9aa6"/>
                </a:solidFill>
                <a:latin typeface="Inter, Arial"/>
              </a:rPr>
              <a:t>Trade tokens instantly on Arc with Circle Swap Kit.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 7"/>
          <p:cNvSpPr/>
          <p:nvPr/>
        </p:nvSpPr>
        <p:spPr>
          <a:xfrm>
            <a:off x="6446520" y="1828800"/>
            <a:ext cx="5211720" cy="191988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8"/>
          <p:cNvSpPr/>
          <p:nvPr/>
        </p:nvSpPr>
        <p:spPr>
          <a:xfrm>
            <a:off x="6766560" y="2084760"/>
            <a:ext cx="4571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🌉  </a:t>
            </a: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Bridge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9"/>
          <p:cNvSpPr/>
          <p:nvPr/>
        </p:nvSpPr>
        <p:spPr>
          <a:xfrm>
            <a:off x="6766560" y="2743200"/>
            <a:ext cx="457164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9aa6"/>
                </a:solidFill>
                <a:latin typeface="Inter, Arial"/>
              </a:rPr>
              <a:t>Move USDC across chains via CCTP - burned then minted, 1:1.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angle 10"/>
          <p:cNvSpPr/>
          <p:nvPr/>
        </p:nvSpPr>
        <p:spPr>
          <a:xfrm>
            <a:off x="822960" y="4160520"/>
            <a:ext cx="5211720" cy="191988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11"/>
          <p:cNvSpPr/>
          <p:nvPr/>
        </p:nvSpPr>
        <p:spPr>
          <a:xfrm>
            <a:off x="1143000" y="4416480"/>
            <a:ext cx="4571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➤  </a:t>
            </a: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Send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12"/>
          <p:cNvSpPr/>
          <p:nvPr/>
        </p:nvSpPr>
        <p:spPr>
          <a:xfrm>
            <a:off x="1143000" y="5074920"/>
            <a:ext cx="45716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9aa6"/>
                </a:solidFill>
                <a:latin typeface="Inter, Arial"/>
              </a:rPr>
              <a:t>Transfer any ERC-20 to an address, fast and simple.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13"/>
          <p:cNvSpPr/>
          <p:nvPr/>
        </p:nvSpPr>
        <p:spPr>
          <a:xfrm>
            <a:off x="6446520" y="4160520"/>
            <a:ext cx="5211720" cy="191988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4"/>
          <p:cNvSpPr/>
          <p:nvPr/>
        </p:nvSpPr>
        <p:spPr>
          <a:xfrm>
            <a:off x="6766560" y="4416480"/>
            <a:ext cx="4571640" cy="40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★  </a:t>
            </a:r>
            <a:r>
              <a:rPr b="1" lang="en-US" sz="2200" spc="-1" strike="noStrike">
                <a:solidFill>
                  <a:srgbClr val="8cf03e"/>
                </a:solidFill>
                <a:latin typeface="Inter, Arial"/>
              </a:rPr>
              <a:t>Launch token</a:t>
            </a:r>
            <a:endParaRPr b="0" lang="en-IN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5"/>
          <p:cNvSpPr/>
          <p:nvPr/>
        </p:nvSpPr>
        <p:spPr>
          <a:xfrm>
            <a:off x="6766560" y="5074920"/>
            <a:ext cx="457164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9a9aa6"/>
                </a:solidFill>
                <a:latin typeface="Inter, Arial"/>
              </a:rPr>
              <a:t>Deploy your own ERC-20 in minutes - no Solidity needed.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6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17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4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DEEP DIVE · BRIDGE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CCTP: burn on source, mint on destination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4"/>
          <p:cNvSpPr/>
          <p:nvPr/>
        </p:nvSpPr>
        <p:spPr>
          <a:xfrm>
            <a:off x="822960" y="1828800"/>
            <a:ext cx="5211720" cy="384012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5"/>
          <p:cNvSpPr/>
          <p:nvPr/>
        </p:nvSpPr>
        <p:spPr>
          <a:xfrm>
            <a:off x="1097280" y="2057400"/>
            <a:ext cx="4663080" cy="20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800" spc="-1" strike="noStrike">
                <a:solidFill>
                  <a:srgbClr val="8cf03e"/>
                </a:solidFill>
                <a:latin typeface="Inter, Arial"/>
              </a:rPr>
              <a:t>How it works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f5f5f7"/>
                </a:solidFill>
                <a:latin typeface="Inter, Arial"/>
              </a:rPr>
              <a:t>1.  Approve &amp; burn USDC on Arc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    </a:t>
            </a: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USDC is destroyed - sent to the null address.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f5f5f7"/>
                </a:solidFill>
                <a:latin typeface="Inter, Arial"/>
              </a:rPr>
              <a:t>2.  Circle attestation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    </a:t>
            </a: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Circle signs proof of the burn (1–15 min).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400" spc="-1" strike="noStrike">
                <a:solidFill>
                  <a:srgbClr val="f5f5f7"/>
                </a:solidFill>
                <a:latin typeface="Inter, Arial"/>
              </a:rPr>
              <a:t>3.  Mint native USDC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    </a:t>
            </a: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Real USDC appears on the destination chain.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Rectangle 6"/>
          <p:cNvSpPr/>
          <p:nvPr/>
        </p:nvSpPr>
        <p:spPr>
          <a:xfrm>
            <a:off x="6309360" y="1828800"/>
            <a:ext cx="5028840" cy="384012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6583680" y="2057400"/>
            <a:ext cx="4571640" cy="254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800" spc="-1" strike="noStrike">
                <a:solidFill>
                  <a:srgbClr val="8cf03e"/>
                </a:solidFill>
                <a:latin typeface="Inter, Arial"/>
              </a:rPr>
              <a:t>Destinations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•  </a:t>
            </a: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Base Sepolia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•  </a:t>
            </a: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Arbitrum Sepolia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•  </a:t>
            </a: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OP Sepolia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•  </a:t>
            </a: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Ethereum Sepolia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•  </a:t>
            </a:r>
            <a:r>
              <a:rPr b="0" lang="en-US" sz="1400" spc="-1" strike="noStrike">
                <a:solidFill>
                  <a:srgbClr val="f5f5f7"/>
                </a:solidFill>
                <a:latin typeface="Inter, Arial"/>
              </a:rPr>
              <a:t>Avalanche Fuji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endParaRPr b="0" lang="en-IN" sz="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200" spc="-1" strike="noStrike">
                <a:solidFill>
                  <a:srgbClr val="9a9aa6"/>
                </a:solidFill>
                <a:latin typeface="Inter, Arial"/>
              </a:rPr>
              <a:t>Forwarding Service relays the mint -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200" spc="-1" strike="noStrike">
                <a:solidFill>
                  <a:srgbClr val="9a9aa6"/>
                </a:solidFill>
                <a:latin typeface="Inter, Arial"/>
              </a:rPr>
              <a:t>no destination-chain signature needed.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8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9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5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UNDER THE HOOD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Modern, type-safe, self-custody stack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4"/>
          <p:cNvSpPr/>
          <p:nvPr/>
        </p:nvSpPr>
        <p:spPr>
          <a:xfrm>
            <a:off x="822960" y="1828800"/>
            <a:ext cx="10515240" cy="22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Frontend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Next.js 16 (App Router) · React 19 · TypeScript · Tailwind v4 · framer-motion.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Wallets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wagmi + viem (EVM) · Privy embedded wallet (email login) · single provider singleton.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Chain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Arc Testnet (L1) as the home chain; USDC gas.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Settlement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Circle App Kit (CCTP bridge) + Circle Swap Kit (swaps).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Contracts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Foundry / Solidity ERC-20, deployed via the app.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199"/>
              </a:spcAft>
            </a:pP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500" spc="-1" strike="noStrike">
                <a:solidFill>
                  <a:srgbClr val="8cf03e"/>
                </a:solidFill>
                <a:latin typeface="Inter"/>
              </a:rPr>
              <a:t>Infra</a:t>
            </a:r>
            <a:r>
              <a:rPr b="0" lang="en-US" sz="1300" spc="-1" strike="noStrike">
                <a:solidFill>
                  <a:srgbClr val="9a9aa6"/>
                </a:solidFill>
                <a:latin typeface="Inter"/>
              </a:rPr>
              <a:t>  - pnpm + Turborepo monorepo · Vercel deploy · automated typecheck/lint/secret scans.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5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6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TRUST &amp; SECURITY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Non-custodial by design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4"/>
          <p:cNvSpPr/>
          <p:nvPr/>
        </p:nvSpPr>
        <p:spPr>
          <a:xfrm>
            <a:off x="822960" y="1828800"/>
            <a:ext cx="10515240" cy="212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500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Charge never holds funds</a:t>
            </a:r>
            <a:r>
              <a:rPr b="0" lang="en-US" sz="1400" spc="-1" strike="noStrike">
                <a:solidFill>
                  <a:srgbClr val="9a9aa6"/>
                </a:solidFill>
                <a:latin typeface="Inter"/>
              </a:rPr>
              <a:t>  - every transaction is signed by you, in your wallet.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00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Native USDC</a:t>
            </a:r>
            <a:r>
              <a:rPr b="0" lang="en-US" sz="1400" spc="-1" strike="noStrike">
                <a:solidFill>
                  <a:srgbClr val="9a9aa6"/>
                </a:solidFill>
                <a:latin typeface="Inter"/>
              </a:rPr>
              <a:t>  - CCTP mints real Circle USDC; no bridge IOUs or wrapped tokens.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00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No secret leakage</a:t>
            </a:r>
            <a:r>
              <a:rPr b="0" lang="en-US" sz="1400" spc="-1" strike="noStrike">
                <a:solidFill>
                  <a:srgbClr val="9a9aa6"/>
                </a:solidFill>
                <a:latin typeface="Inter"/>
              </a:rPr>
              <a:t>  - keys (KIT_KEY, Circle, Privy) stay server-side / in env; build-time secret scans.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00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Provider safety</a:t>
            </a:r>
            <a:r>
              <a:rPr b="0" lang="en-US" sz="1400" spc="-1" strike="noStrike">
                <a:solidFill>
                  <a:srgbClr val="9a9aa6"/>
                </a:solidFill>
                <a:latin typeface="Inter"/>
              </a:rPr>
              <a:t>  - singleton gate prevents duplicate wagmi/viem instances breaking state.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00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600" spc="-1" strike="noStrike">
                <a:solidFill>
                  <a:srgbClr val="8cf03e"/>
                </a:solidFill>
                <a:latin typeface="Inter"/>
              </a:rPr>
              <a:t>Open build</a:t>
            </a:r>
            <a:r>
              <a:rPr b="0" lang="en-US" sz="1400" spc="-1" strike="noStrike">
                <a:solidFill>
                  <a:srgbClr val="9a9aa6"/>
                </a:solidFill>
                <a:latin typeface="Inter"/>
              </a:rPr>
              <a:t>  - pnpm verify runs typecheck, lint, build &amp; security checks before every change.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5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7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a0a0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822960" y="640080"/>
            <a:ext cx="100580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◆  </a:t>
            </a:r>
            <a:r>
              <a:rPr b="1" lang="en-US" sz="1300" spc="-1" strike="noStrike">
                <a:solidFill>
                  <a:srgbClr val="8cf03e"/>
                </a:solidFill>
                <a:latin typeface="Inter, Arial"/>
              </a:rPr>
              <a:t>STATUS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822960" y="1051560"/>
            <a:ext cx="10515240" cy="59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3400" spc="-1" strike="noStrike">
                <a:solidFill>
                  <a:srgbClr val="f5f5f7"/>
                </a:solidFill>
                <a:latin typeface="Inter, Arial"/>
              </a:rPr>
              <a:t>Live, working, and growing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822960" y="1828800"/>
            <a:ext cx="10515240" cy="131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5000"/>
              </a:lnSpc>
              <a:spcAft>
                <a:spcPts val="1599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Deployed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running on Vercel at chargexyz.vercel.app.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99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Email + wallet login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both paths verified working, including CCTP bridging.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5000"/>
              </a:lnSpc>
              <a:spcAft>
                <a:spcPts val="1599"/>
              </a:spcAft>
            </a:pP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▸ </a:t>
            </a:r>
            <a:r>
              <a:rPr b="1" lang="en-US" sz="1700" spc="-1" strike="noStrike">
                <a:solidFill>
                  <a:srgbClr val="8cf03e"/>
                </a:solidFill>
                <a:latin typeface="Inter"/>
              </a:rPr>
              <a:t>Roadmap</a:t>
            </a:r>
            <a:r>
              <a:rPr b="0" lang="en-US" sz="1500" spc="-1" strike="noStrike">
                <a:solidFill>
                  <a:srgbClr val="9a9aa6"/>
                </a:solidFill>
                <a:latin typeface="Inter"/>
              </a:rPr>
              <a:t>  - mainnet chains, swap fee routing, token launchpad + charts, mobile polish.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 5"/>
          <p:cNvSpPr/>
          <p:nvPr/>
        </p:nvSpPr>
        <p:spPr>
          <a:xfrm>
            <a:off x="822960" y="5029200"/>
            <a:ext cx="10515240" cy="914040"/>
          </a:xfrm>
          <a:prstGeom prst="rect">
            <a:avLst/>
          </a:prstGeom>
          <a:solidFill>
            <a:srgbClr val="141418"/>
          </a:solidFill>
          <a:ln>
            <a:solidFill>
              <a:srgbClr val="2a2a3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1005840" y="5351400"/>
            <a:ext cx="1014948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ctr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1" lang="en-US" sz="1600" spc="-1" strike="noStrike">
                <a:solidFill>
                  <a:srgbClr val="8cf03e"/>
                </a:solidFill>
                <a:latin typeface="Inter, Arial"/>
              </a:rPr>
              <a:t>Try it: </a:t>
            </a:r>
            <a:r>
              <a:rPr b="0" lang="en-US" sz="1600" spc="-1" strike="noStrike">
                <a:solidFill>
                  <a:srgbClr val="f5f5f7"/>
                </a:solidFill>
                <a:latin typeface="Inter, Arial"/>
              </a:rPr>
              <a:t>chargexyz.vercel.app  --  connect a wallet or sign in with email.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822960" y="6400800"/>
            <a:ext cx="73148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Charge.xyz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10789920" y="6400800"/>
            <a:ext cx="91404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rIns="25560" tIns="25560" bIns="25560" anchor="t">
            <a:spAutoFit/>
          </a:bodyPr>
          <a:p>
            <a:pPr algn="r" defTabSz="457200">
              <a:lnSpc>
                <a:spcPct val="105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9a9aa6"/>
                </a:solidFill>
                <a:latin typeface="Inter, Arial"/>
              </a:rPr>
              <a:t>8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2026-08-07T18:32:54Z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